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— Tool Map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도구가 어떤 Lecture의 어떤 슬라이드, 어떤 튜토리얼·퀴즈 문제를 다루는지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Lec 1–3 (Xinchao), Lecture 4–6 annotated (Helen Zhou), Tutorial 1–6, Trial Quiz, Assignment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번호 = PDF 페이지 번호 (예: “L4 p23” = Lecture 4 PDF 23쪽)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한눈에 보기: 도구 카테고리 → 강의 범위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트리의 카테고리 순서 그대로. 뒤 슬라이드에서 도구 하나하나를 풀어서 설명.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545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Solve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0208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L4–L6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9272" y="141732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60020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5643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032504" y="1545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&amp; Vector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32504" y="20208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L3–L4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41732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160020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1850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1545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Determinant 계열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94576" y="20208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p13–23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43416" y="141732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0576" y="160020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8057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756648" y="1545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· Invertibility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56648" y="20208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L4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69748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2825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System Xw = 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70432" y="3300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p25–35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19272" y="269748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56432" y="288036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56432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032504" y="2825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· Min/Max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032504" y="3300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L4–L5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81344" y="269748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18504" y="288036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18504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94576" y="2825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894576" y="3300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43416" y="269748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80576" y="288036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80576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756648" y="2825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756648" y="3300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p6–12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397764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4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170432" y="41056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170432" y="45811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p13–16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319272" y="397764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56432" y="416052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45643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032504" y="41056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4032504" y="45811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p17–25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181344" y="397764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18504" y="416052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18504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6894576" y="41056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6894576" y="45811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L3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043416" y="397764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80576" y="416052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80576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9756648" y="41056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9756648" y="45811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57200" y="525780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4360" y="544068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943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170432" y="5385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 · Concepts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1170432" y="58613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L2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319272" y="525780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56432" y="5440680"/>
            <a:ext cx="457200" cy="45720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456432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4032504" y="5385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4032504" y="58613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튜토리얼 코딩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동그라미 숫자 = 그 카테고리의 도구 개수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입력하는 법 (모든 solver 공통)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행렬로 넣든, 문제 문장 그대로 넣든 결과는 같아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72768"/>
            <a:ext cx="411480" cy="41148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행렬로 입력 (기본)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4884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칸에 숫자 입력, +행 / −행 / +열 / −열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엑셀·텍스트를 맨 왼쪽 위 칸에 붙여넣으면 행렬 전체가 바뀜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1/3, −2^2, sqrt(2) 같은 값도 OK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X와 y는 행 수가 자동으로 맞춰짐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572768"/>
            <a:ext cx="411480" cy="41148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형식 그대로 입력 (OR 옵션)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4884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맨 위 “입력 방식” 드롭다운에서 바꿈 — 빈칸 채우기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데이터: { x = □ } → { y = □ } (+샘플, +x)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방정식: □ w1 + □ w2 = □ (Solve Xw = 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모델: y = □ + □ x (Predict) · “텍스트로 붙여넣기”로 자동 채움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4E8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178808"/>
            <a:ext cx="411480" cy="41148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1605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1 열 = 자동 · 잠금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75488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bias 체크 → X, X_new 맨 앞에 회색 “1 (bias)” 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불가 · 체크 해제하면 사라짐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X에 1 열이 있으면 그 열은 빼고 입력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Xw = y에는 bias 없음 (1은 w의 계수)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9776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3FA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178808"/>
            <a:ext cx="411480" cy="411480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1605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→ 입력 가이드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75488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solver 위에 “문제에서 이렇게 나오면 → 이렇게 넣어” 표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검색창에 문제 문장 일부를 쳐도 찾아줌 (예: given that → Bayes)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입력칸마다 “예: …” 힌트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결과의 1번에 읽은 값·순서 표시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Solve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L4–L6 전체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Solve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X와 y(또는 라벨)를 넣으면 회귀 / binary / multi-class, bias, polynomial, ridge, primal·dual을 자동 판별해서 학습·예측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p27–33, p51 (시스템 종류 표)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p21 · L6 p7, p10, p15–16, p22–23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 Q1–Q4, T6 Q2–Q5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solver?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문장을 붙여넣으면 키워드로 맞는 도구를 추천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L1–L6 전 범위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06324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4E8"/>
          </a:solidFill>
          <a:ln w="9525">
            <a:solidFill>
              <a:srgbClr val="F5D2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154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 근거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 규칙은 L4 p51 요약표(m = d → X⁻¹, m &gt; d → left inverse, m &lt; d → right inverse)와 L6 p15–16 (primal: m &gt; d, dual: m &lt; d)을 그대로 따름.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&amp; Vector 연산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L3 p5–9 · L4 p5–13, p40–41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Matrix Expression Calculator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A, B, C, x, y로 inv(A'A)A'y 같은 식을 직접 계산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p6–14 (연산 전반)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Python demo 2, T4 코드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Matrix ± 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A+B, A−B, AB, BA, kA, AᵀB, AᵀA / AAᵀ — 차원이 안 맞으면 이유 설명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p7 (scalar), p12 (m×d · d×h → m×h)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demo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Transpose Xᵀ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행 ↔ 열 바꾸기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demo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Matrix–Vector Wx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행 하나씩 곱해서 더하기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Vector–Matrix xᵀW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xᵀ(1×d) 곱하기 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p11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ops / dot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x±y, a·x, 내적 xᵀy, 길이 ‖x‖, 각도 cos 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p6–7, p9 · L3 p6–8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Iₙ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단위행렬 만들기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Sets ∩ 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교집합, 합집합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p40–41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Determinant · Minor · Cofactor · Adjugate · Inverse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L4 p13–23, p29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Determinant det(A)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2×2: ad − bc, 3×3: 1행 cofactor 전개를 숫자로 보여줌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p14 (2×2), p17 (3×3), p18–22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 Q1(b), Q4(b)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 Mᵢⱼ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i행 j열을 지운 행렬의 det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p15, p18–22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Matrix of all minors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Mᵢⱼ를 행렬로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p15, p23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Cofactor Cᵢⱼ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Cᵢⱼ = (−1)^(i+j) Mᵢⱼ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Cofactor Matrix 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Cᵢⱼ (부호 패턴 + − +)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p23 (A = [1 2 3; 0 4 5; 1 0 6] 예제)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Adjugate adj(A)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adj(A) = Cᵀ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p15–16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Inverse A⁻¹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A⁻¹ = adj(A)/det(A), 정사각·det ≠ 0 확인 후 A·A⁻¹ = I 검산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p13–14, p16, p29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 Q1(b), Trial Quiz TF2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· Invertibility  +  Linear System Xw = 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L3 p11–14 · L4 p25–35, p51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 · Invertibility · Independence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행사다리꼴(echelon) 단계를 보여주고 rank, rank(XᵀX), rank(XXᵀ)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p13–14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Q10–Q11, L4 demo 1,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Invertibility checker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정사각? det? rank? → invertible / left / right invertible 판정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p11 · L4 p13, p28, p30, p32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 Q1, Q2, Q7, Q8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matrix report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dims, rank, det, Aᵀ, AᵀA, AAᵀ, 역행렬, pinv, cofactor, adj 한 번에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p8–23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independence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 = 벡터 개수인지, 아니면 Σβᵢxᵢ = 0 예시 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p11–12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System Xw = 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 Xw = 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방정식 형식 입력 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m, d 비교 → X⁻¹y / (XᵀX)⁻¹Xᵀy / Xᵀ(XXᵀ)⁻¹y 자동 선택, exact·approx·constrained·해 없음 표시, wᵀX = yᵀ도 지원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p25–35, p51 (요약표)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 Q1–Q6, Trial MCQ2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방정식 형식 입력 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rank(X) vs rank([X, y]) → unique / infinite / 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p30 (예외 조건), p32, p35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 Q2, Q5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Pseudoinverse X†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tall → (XᵀX)⁻¹Xᵀ, wide → Xᵀ(XXᵀ)⁻¹, 존재 여부 확인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p30 (left), p32–33 (right)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 Q3, Q4, Q7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· Derivative · Gradient (1/2)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L4 p42–50 · L5 p4–10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 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점을 대입해서 f 값 계산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p42–44 (f: ℝᵈ → ℝ 예)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vs Affine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aᵀx(linear) / aᵀx + b(affine) / neither 판정, a와 b 출력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p45–50 · L5 p4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 Q7, L4 poll p37 (y = a+b+2c+3)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Derivative df/dx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기호 미분 + f″ + 특정 점의 값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∂f/∂xᵢ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다른 변수는 상수로 두고 미분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∇f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d×1 열벡터의 편미분들, 특정 점의 값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 Q8, L5 poll p12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Jacobian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function의 h×d 행렬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p9 · L4 p43 (vector function)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/ Max · argmin / argmax (2/2)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L5 p5–10, p20–21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Hessian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2차 미분 행렬, 고유값으로 볼록/오목 판단 (min/max 판별 보조)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p7 (기울기 0) 확장 — 강의에 직접 없음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Min/Max/argmin/argmax (1변수)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/ global min·max, 구간 끝점, open interval, 무한대까지 처리. max = 값, argmax = 입력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p5 (local vs global), p6 (max vs argmax)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max/argmax on set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유한집합 𝒜 위에서 최댓값과 그 원소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p6 (f(a) = 3a on [0,1] → max 3, argmax 1)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∇f = 0 (stationary)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다변수 f / J(w)의 정류점을 찾고 min / max / saddle 분류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p7, p21 (∂J/∂w = 0) · L6 p14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d(xᵀAx)/dx 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d(Ax)/dx = A, d(bᵀx)/dx = b, d(xᵀAx)/dx = (A+Aᵀ)x, d(yᵀAx)/dx = Aᵀy, ∇J(w)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p10, p20–21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L5 p14–36 · L6 p4–5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ŵ (+ Predict)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 붙이고 ŵ = (XᵀX)⁻¹Xᵀy (크기에 따라 자동), 회귀식 ŷ = w₀ + w₁x, 새 x 예측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p14–25 (Ex1 p22–23, Ex2 p24–25) · L6 p4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 Q1–Q4, Trial MCQ4, FIB3(i), A1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 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 식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 구한 ŵ에 X_new를 넣어 ŷ = X_new ŵ (bias 1 자동)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p21, p23, p25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 Q2, Q3(c)(d)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/ J(w)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샘플별 loss (xᵢᵀw − yᵢ)², J(w) = eᵀe, MSE, over/under-estimate, ridge penalty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p16–18 (loss·cost·objective), p20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Multi-output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Ŵ = (XᵀX)⁻¹XᵀY, X: m×(d+1), W: (d+1)×h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p26–31 (Ex3 p29–30, Ex4 p31) · L6 p5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 Q9, L5 poll p33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equation derivation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J(w) → ∂J/∂w = 0 → XᵀXw = Xᵀy → 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p20–21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(1/m)Σ(ŷ − y)², SSE, RMSE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p16, p36 · L5 demo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 Q6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L1 p19–20 · L2 p23 · L6 p6–12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vs Classification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y가 연속이면 회귀, 이산 라벨이면 분류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p19–20 · L5 p15 · L6 p6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 Q4–Q6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Train + Predict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라벨을 ±1로 바꿔 ŵ 학습 → score = xᵀŵ → sign → 원래 라벨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p6–9 (Ex1)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 Q4, Trial FIB2(i)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sign(score)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≥ 0 → +1, &lt; 0 → −1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p7, p9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One-hot encoder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k → k번째만 1인 벡터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p23 · L6 p10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TF1, L6 demo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Multi-class Train + Predict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Ŵ = (XᵀX)⁻¹XᵀY(one-hot) → 행마다 argmax → 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p10–12 (Ex2)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 Q5(a)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Argmax 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점수 행렬 Ŷ의 행마다 가장 큰 열 → Class 번호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L6 p13–16, p22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Auto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&gt; d → primal, m &lt; d → dual 자동 선택 (+ 예측)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p13–16, p22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 Q3(c)(d), L6 demo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Primal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ŵ = (XᵀX + λI)⁻¹Xᵀy, I는 d×d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p14–15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 Q3(d)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Dual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ŵ = Xᵀ(XXᵀ + λI)⁻¹y, I는 m×m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 Q1 (유도), Q3(c)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J(w)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항 (Xw−y)ᵀ(Xw−y)와 penalty 항 λwᵀw를 따로 보여줌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Predict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 식 형식 입력 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ŷ = X_new 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p15–16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 · 1 열 자동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 여러 개 → ŵ, ‖ŵ‖, training error 표 (shrinkage)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p13 (λ↑ → 더 많이 shrink)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 Q8(c)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Regression / Classification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L6 p17–25, p29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→ [1, x, x², …], 2 feature면 x1x2, x1², x2² — 열 이름, 파라미터 개수 표시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p17–21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 Q3(a)(b), Trial MCQ3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 Train + Predict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P의 크기로 primal / dual 선택, X_new도 같은 확장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p20–22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 Q2, Trial FIB3(ii)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 Binary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P로 학습 → sign (XOR 예제)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p21, p23–25 (Ex3)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FIB2(ii)(iii)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 Multi-class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+ one-hot → argmax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p23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 Q5(b), Q6(d)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 params / system type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C(d+p, p)개 파라미터, P가 over / under-determined인지, W 크기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p19, p22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 Q7, Q8(d), Trial MCQ3, L6 polls p27–28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· Correlation  +  Data Types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L1 p27–32 · L2 p6–33 · L3 p20–22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Statistics · Correlation · Normalization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Descriptive statistics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mean, median, mode, 분산·표준편차(÷n, ÷(n−1)), 사분위, boxplot 5수 요약, z-score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p8, p11–13, p32 · L3 p31–32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 Q5(a), Q7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Pearson 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Σ(x−x̄)(y−ȳ) 표로 r 계산, 강도 해석 (0.9 / 0.7 / 0.5)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p20–22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Q6–Q7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per 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각 feature 열과 y의 r, |r| 순위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p21 (+ 추가자료 Pearsons r.py)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Normalize / 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min-max, z-score, 결측값 평균 대체 / 범위 밖 값 / 행 삭제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p23 (scaling), p24–26 (imputation)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 Q4, Q5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Types · ML Concepts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ordered? equal intervals? true zero? → Nominal / Ordinal / Interval / Ratio + 쓸 수 있는 통계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p6–17 (p7, p13–14, quiz p15), p35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 Q6, Trial MCQ5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neighbour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속성 일치 개수(또는 거리)로 가장 가까운 샘플의 라벨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p27–32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practice p36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 cheat sheet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T/F · MCQ용 개념 정리 (검색 가능)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L1–L6 전반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T1, T3 Q7–Q8, 강의 poll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(1/2)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L3 p26–43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 = 1로 k / c 풀기, E[X], Var, σ, CDF, P(조건)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p30–32, p43 (practice)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Q1, Trial FIB1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∫f = 1로 c 풀기, P(a ≤ X ≤ b), E[X], Var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p33–34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Gaussian CDF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P(a &lt; X ≤ b) = F(b) − F(a), z-score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p35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Bayes' rule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P(B|A) = P(A|B)P(B) / P(A), P(A)를 total probability로도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p40–41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Bayes (multi)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가설 여러 개 → evidence와 posterior 표 (과일 상자 예)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p41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Axioms · union · conditional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P(A∪B), P(A|B), 독립 여부, 확률 할당이 유효한지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p27, p37–39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(2/2)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L3 p23–24, p36–39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table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rule로 marginal, product rule로 conditional, 독립 확인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Dice counting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경우를 세서 P(조건) (합, 곱, 비교)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p36 (독립 사건)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Draws (cards, balls)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비복원/복원 추출, product rule, hypergeometric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p37–38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MCQ6 (1/221)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Exactly k (urns)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독립 사건 여러 개 중 정확히 k개 일어날 확률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p36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 MCQ1 (270/512)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Simpson's paradox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그룹별 비율과 합친 비율을 비교해 역전 여부 판정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p23–24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 Generator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범위: L2 p30–31 · L5 p36 · L6 p29 · 튜토리얼 코딩 문제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160520"/>
                <a:gridCol w="28346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 (solver 이름)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계산하나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강의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튜토리얼 · 퀴즈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builder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체크한 기능대로 def 함수 생성 (bias, poly, ridge, 분류, 예측, MSE, (XᵀX)⁻¹ 반환)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p21 · L6 p15–16, p22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Assignment 1 (A1_학번)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regression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읽기 → bias → ŵ → 그래프 → 예측. 열은 이름(year) 또는 번호(0부터)로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p36 (numpy, pandas)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 Q5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+ MSE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/ train_test_split로 나누고 test MSE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p36 (mean_squared_error)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 Q6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plot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열을 골라 그래프, 카테고리별 선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p30–31 (visualization)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 Q1, Q2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/ 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 통계, 0 개수 세기, 0 → 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p19, p24–26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 Q5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Iris classification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train_test_split + one-hot + linear / polynomial 분류 정확도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 p29 (sklearn hints)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 Q3, T6 Q6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Probability code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주사위 enumeration, normal CDF, PMF 평균·분산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p30–35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Q4, Q5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numpy cheat sheet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inv, det, rank, pinv, @, hstack, OneHotEncoder, PolynomialFeatures 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p51 · L5 p36 · L6 p29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문제에서 이렇게 나오면 → 이 도구, 이렇게 입력 (1/2)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시험지 문장을 보고 바로 도구 고르기 — 자세한 건 각 solver 위의 가이드 표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7432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문제에서 이렇게 나오면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이렇게 입력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“Given Xw = y where X = …, y = …” (even / over / under?)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 Xw = 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X, y 그대로 (bias 없음 — 1은 계수)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“w₁ + w₂ = 4, w₁ − 2w₂ = 1”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 Xw = 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방정식 형식 → □ w1 + □ w2 = □에 1, 1, 4 / 1, −2,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“Given wᵀX = yᵀ …”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 Xw = 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written as = wᵀX = yᵀ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“Is X invertible? has a left / right inverse? (T/F)”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Invertibility checker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입력 → 표의 YES / 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“Find det(A) / cofactor matrix / adj(A) / A⁻¹”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Determinant 계열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입력 (정사각)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“rank of …”, “linearly dependent?”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 / Linear independence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벡터는 V의 열로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“{x = −9} → {y = −6} … regression line … predict x = 8”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ŵ (+ Predict)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입력 · add bias 체크 · X_new: x = 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“… without any bias / offset term”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ŵ (+ Predict)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bias 해제 (회색 1 열 사라짐)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“the fitted model is y = … , predict for x = …”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 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 식 형식 → y = □ + □ 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“loss / cost / J(w) / MSE for w = …”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/ J(w)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X, y, w 입력 → J와 MSE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“x → y = [1, −1]” (여러 출력)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 형식 + y 버튼 → y = [□, □]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“→ {class1} / {class2}”, “sign”, “y ∈ {0, 1}”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Train + Predict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라벨 그대로 (class1 → +1, 0 → −1)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“three classes”, “one-hot”, “argmax”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Multi-class Train + Predict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라벨 1, 2, 1, 3 (one-hot 자동)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“ridge regression with λ = 0.1”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Auto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 칸 · primal / dual 자동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문제에서 이렇게 나오면 → 이 도구, 이렇게 입력 (2/2)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시험지 문장을 보고 바로 도구 고르기 — 자세한 건 각 solver 위의 가이드 표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7432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문제에서 이렇게 나오면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이렇게 입력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“3rd-order polynomial regression, predict x = 9”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 Train + Predict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3 · raw x만 (x², x³ 자동)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“how many parameters? under-determined?”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 params / system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d, p, m 입력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“min / max / argmin / argmax of f(x) on [a, b]”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Min/Max/argmin/argmax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domain에 [a, b] / R / (0, 1]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“minimize J(w) = …”, “stationary point”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∇f = 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 식 그대로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“derivative / gradient / Jacobian of …”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Derivative / Gradient / Jacobian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식 입력 (x1, x2 …)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“PMF with unknown k”, “Pr[X odd]”, “mean of X”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Pr에 k 포함 · 조건 x % 2 ==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“f_X(x) = cx for 0 ≤ x ≤ 2, find c and Pr[…]”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 = c*x, support 0 ~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“Pr[A|B] = …, find Pr[B|A]”, “given that …”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Bayes' rule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Pr(A|B), Pr(B), Pr(A)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“normal, mean 30, std 1.8, between 28 and 33”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Gaussian CDF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μ, σ, a, 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“two dice sum 7” / “two Queens in a row” / “urns, exactly 2 red”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Dice / Draws / Exactly 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== 7 / Q:4, other:48 / 7/8, 6/8, 3/8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“mean / median / mode / variance / std / r”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Descriptive statistics / Pearson 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숫자 나열 (두 집합이면 r도)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“nominal / ordinal / interval / ratio?”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3개에 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“Write def A1_…(X, y) returning (XᵀX)⁻¹ and w”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builder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함수 이름 = 학번 · bias 해제 · return 체크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“use the csv … predict the value for 2021”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regression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· y 열 이름 또는 번호(0부터)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역색인: Lecture → 도구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슬라이드를 보다가 “이거 어떤 도구로 풀지?” 할 때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03504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주요 슬라이드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쓰는 도구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p7–9 ML 정의 · p17–26 supervised / unsupervised / RL · p19–20 regression vs classification · p27–32 toy example (nearest neighbour) · p33–34 inductive / deductive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neighbour, Reg vs Class, Concept cheat sheet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p6–17 NOIR · p8 mean / median / mode · p19, p24–26 missing data · p23 one-hot, min-max, z-score · p30–33 visualization, boxplot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NOIR, Descriptive statistics, Normalize / NA, One-hot, CSV plot, describe / 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p5–10 vector, matrix · p11–14 linear dependence, rank · p20–22 correlation · p23–24 Simpson · p26–27 axioms · p30–35 PMF, PDF, Gaussian · p36–39 examples, sum / product rule · p40–41 Bayes · p43 practice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Rank, Linear independence, Pearson r, Simpson, PMF, PDF, Gaussian, Bayes, Axioms, Joint, Dice, Draws, Exactly 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p6–12 vector / matrix 연산 · p13–23 inverse, det, minor, cofactor, adj · p25–35 Xw = y (square / tall / wide) · p40–41 sets · p42–50 functions, linear, affine · p51 summary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Matrix / Vector 도구 전부, det 계열 전부, Invertibility, Solve Xw = y, Solution type, X†, Sets, Evaluate f, Linear vs Affine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p5–6 min / max / argmax · p7–10 derivative, gradient, Jacobian, 공식 · p14–25 linear regression (loss, J(w), 정규방정식, Ex1–2) · p26–31 multiple outputs · p36 summary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Derivative, Partial, Gradient, Jacobian, Min/Max, ∇f = 0, d(xᵀAx)/dx, Train, Predict, Loss / J(w), Multi-output, Normal equation, MSE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p4–5 review · p6–12 binary / multi-class classification · p13–16 ridge (primal, dual) · p17–25 polynomial (P, Ex3 XOR) · p22–23, p29 summary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Binary, sign, One-hot, Multi-class, Argmax, Ridge 6종, Poly 5종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역색인: 튜토리얼 · Trial Quiz → 도구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229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번호로 바로 도구 찾기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66928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쓰는 도구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Q1–Q11 ML 개념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 cheat sheet, Reg vs Class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Q1–Q3 그래프 · Q4 정규화 · Q5 결측값 · Q6 NOIR · Q7 boxplot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plot, Iris, Normalize / NA, describe / NaN, NOIR, Descriptive statistics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PMF · Q2 PDF · Q3 Bayes · Q4 주사위 · Q5 정규분포 · Q6–7 상관/인과 · Q8 공리 · Q10–11 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PMF, PDF, Bayes, Dice, Gaussian, Pearson r, Axioms, Rank, Linear independence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Q1–Q6 Xw = y (wᵀX = yᵀ 포함) · Q7–Q8 left / right inverse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 Xw = y, Solution type, X†, Invertibility checker, Determinant, Inverse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Q1–Q4 회귀·bias·예측 · Q5 CSV · Q6 MSE · Q7 affine · Q8 gradient 차원 · Q9 multi-output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+ Predict, Predict, CSV regression, Split + MSE, Linear vs Affine, Gradient, Multi-output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dual 유도 · Q2–Q3 polynomial · Q4 binary · Q5 multi-class · Q6 iris · Q7–Q8 개념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Dual, Poly Train + Predict, Build P, Binary, Multi-class, Poly Multi-class, Iris, # params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TF1 one-hot · TF2 역행렬 · MCQ1 항아리 · MCQ2 식 개수 · MCQ3 poly · MCQ4 회귀 · MCQ5 NOIR · MCQ6 카드 · FIB1 PMF · FIB2 분류 · FIB3 예측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One-hot, Inverse, Exactly k, Solve Xw = y, # params, Train + Predict, NOIR, Draws, PMF, Binary / Poly Binary, Poly Train + Predict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7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4×2 X로 (XᵀX)⁻¹와 w를 return하는 함수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D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builder (return (XᵀX)⁻¹ 체크, bias 해제)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EE2211 Solver · Tool Map  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EE2211 Solver — Tool Map</dc:title>
  <dc:subject>PptxGenJS Presentation</dc:subject>
  <dc:creator>PptxGenJS</dc:creator>
  <cp:lastModifiedBy>PptxGenJS</cp:lastModifiedBy>
  <cp:revision>1</cp:revision>
  <dcterms:created xsi:type="dcterms:W3CDTF">2026-10-05T15:14:03Z</dcterms:created>
  <dcterms:modified xsi:type="dcterms:W3CDTF">2026-10-05T15:14:03Z</dcterms:modified>
</cp:coreProperties>
</file>